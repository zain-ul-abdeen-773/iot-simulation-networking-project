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embeddedFontLst>
    <p:embeddedFont>
      <p:font typeface="Brygada 1918" panose="020B0604020202020204" charset="0"/>
      <p:regular r:id="rId12"/>
    </p:embeddedFont>
    <p:embeddedFont>
      <p:font typeface="Brygada 1918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098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4169" y="6860"/>
            <a:ext cx="5755888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Aegis-IoT: Neural Network Intelligence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122392" y="1207033"/>
            <a:ext cx="3012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Replication &amp; Enhancement of IEEE Paper: "Delay Prediction in IoT Using Machine Learning Approach" (Abdellah et al., 2020, ICUMT)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5135" y="2233785"/>
            <a:ext cx="3012691" cy="770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Research Domain: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IoT Network Security, Artificial Intelligence, Computer Communications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2392" y="3086371"/>
            <a:ext cx="3012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Authors: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Zain Ul Abdeen &amp; Hashir Awaiz | GIK Institute of Engineering Sciences and Technology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5DF9BF-FB2E-ECCE-28A4-A1886335B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939" y="1630951"/>
            <a:ext cx="5630061" cy="3505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614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Problem Statement: The IoT Traffic Challenge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726481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Challenge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925119" y="2134046"/>
            <a:ext cx="21884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IoT traffic is inherently bursty and noisy, with unpredictable congestion patterns that traditional reactive methods cannot handle effectively.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395663"/>
            <a:ext cx="21884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Existing IoT simulations remain purely descriptive—they replay traffic but fail to close the loop with inline predictive analytics and autonomous control.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64201" y="1726481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Why It Matters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64201" y="2134046"/>
            <a:ext cx="21884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Without live, inline prediction and anomaly detection, networks cannot proactively mitigate DDoS attacks or intelligently route around impending congestion spikes.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4201" y="3622477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Gap: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Offline prediction vs. real-time autonomous response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5C74E9-75E6-7003-2383-A98D7550DE72}"/>
              </a:ext>
            </a:extLst>
          </p:cNvPr>
          <p:cNvSpPr/>
          <p:nvPr/>
        </p:nvSpPr>
        <p:spPr>
          <a:xfrm>
            <a:off x="7711440" y="4739640"/>
            <a:ext cx="1432560" cy="38862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 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15082"/>
            <a:ext cx="608052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Paper Methodology vs. Our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25885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Abdellah et al. utilized NARX (Nonlinear Autoregressive Network with Exogenous Inputs) for offline, centralized delay prediction. We </a:t>
            </a:r>
            <a:r>
              <a:rPr lang="en-US" sz="10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highly modified</a:t>
            </a: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the approach, transpiling AI models into pure Java for embedded inference.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723281"/>
            <a:ext cx="8167241" cy="2407741"/>
          </a:xfrm>
          <a:prstGeom prst="roundRect">
            <a:avLst>
              <a:gd name="adj" fmla="val 86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3636" y="1815182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Feature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54660" y="1815182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Original Paper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73304" y="1815182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Aegis-IoT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3636" y="2215679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Core Model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54660" y="2215679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Offline NARX Neural Network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73304" y="2215679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BiLSTM &amp; Random Forest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3636" y="2616175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54660" y="2616175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Centralized Python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73304" y="2616175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Live JVM inline (m2cgen)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3636" y="3016672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4660" y="3016672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Observation &amp; RMSE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73304" y="3016672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RL Load Balancing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3636" y="3417168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4660" y="3417168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73304" y="3417168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OneClassSVM DDoS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3636" y="3817665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Privacy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4660" y="3817665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Raw data centralization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73304" y="3817665"/>
            <a:ext cx="24372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Federated Learning (FedAvg)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379" y="4285506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Our RL agent autonomously throttles/accelerates traffic based on live predictions, bridging Python ML training with JVM-based AnyLogic simulators.</a:t>
            </a:r>
            <a:endParaRPr lang="en-US" sz="10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F7FAF7E-C89C-88FF-97B4-2DCA3715F68C}"/>
              </a:ext>
            </a:extLst>
          </p:cNvPr>
          <p:cNvSpPr/>
          <p:nvPr/>
        </p:nvSpPr>
        <p:spPr>
          <a:xfrm>
            <a:off x="7711440" y="4739640"/>
            <a:ext cx="1432560" cy="38862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465" y="5473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Literature Review &amp; Related Work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162291" y="1603251"/>
            <a:ext cx="2290465" cy="1506810"/>
          </a:xfrm>
          <a:prstGeom prst="roundRect">
            <a:avLst>
              <a:gd name="adj" fmla="val 14113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08812" y="1749772"/>
            <a:ext cx="17953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Foundational Dataset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08812" y="205628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Built upon RT-IoT2022 intrusion dataset with standard MQTT protocol modeling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94514" y="1603251"/>
            <a:ext cx="2290539" cy="1506810"/>
          </a:xfrm>
          <a:prstGeom prst="roundRect">
            <a:avLst>
              <a:gd name="adj" fmla="val 14113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1035" y="174977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Novelty Detection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741035" y="205628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Relies on Schölkopf's One-Class SVM principles for anomaly detection with scarce labeled attack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2291" y="3251820"/>
            <a:ext cx="4722763" cy="1053182"/>
          </a:xfrm>
          <a:prstGeom prst="roundRect">
            <a:avLst>
              <a:gd name="adj" fmla="val 20191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8812" y="3398341"/>
            <a:ext cx="21178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Zero-Dependency Engine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08812" y="370485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Unlike static surveying techniques, introduces inline inference bridging Python ML with JVM-based simulators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52E92B-5709-506C-D776-CBFB16666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86" y="0"/>
            <a:ext cx="419701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357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Industry Alignment: Digital Twins &amp; Federated Learning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4306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Architecture aligns with massive industry shift towards </a:t>
            </a: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Digital Twins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</a:t>
            </a: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Edge/Federated Learning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ensuring raw telemetry doesn't leave simulated edge nodes.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56161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8561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Digital Twins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3162672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Real-time simulation mirrors physical network behavior for predictive maintenance and anomaly detection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856161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03972" y="28561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Edge Learning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803972" y="3162672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Models process data locally, reducing bandwidth consumption and improving response times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856161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0287" y="28561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Privacy-Preserving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80287" y="3162672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Federated learning ensures sensitive telemetry never leaves the simulated edge node</a:t>
            </a:r>
            <a:endParaRPr lang="en-US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614A62-0AD6-21E6-3A6D-9412C214F6FA}"/>
              </a:ext>
            </a:extLst>
          </p:cNvPr>
          <p:cNvSpPr/>
          <p:nvPr/>
        </p:nvSpPr>
        <p:spPr>
          <a:xfrm>
            <a:off x="7711440" y="4739640"/>
            <a:ext cx="1432560" cy="38862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Allignment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148" y="115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Results: Problem-Solving Impact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17148" y="907664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Before Enhancement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7148" y="1205551"/>
            <a:ext cx="2188443" cy="160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 latency spikes during congestion periods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Blind to synthetic GAN DDoS injections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 autonomous mitigation capability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Reactive response only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786" y="2859825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After Enhancement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0758" y="3209335"/>
            <a:ext cx="21884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RL agent applies delay multipliers across 1,000+ packets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Active threat isolation maintained under pressure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Proactive congestion management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Autonomous load balancing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43ACA2-059D-7E24-AE89-9F2BEE926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829" y="1081315"/>
            <a:ext cx="6480023" cy="4061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783"/>
            <a:ext cx="59150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AI/ML Model Performance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930473"/>
            <a:ext cx="3127177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Selected Models &amp; Justification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96119" y="1408881"/>
            <a:ext cx="2622724" cy="2159124"/>
          </a:xfrm>
          <a:prstGeom prst="roundRect">
            <a:avLst>
              <a:gd name="adj" fmla="val 4235"/>
            </a:avLst>
          </a:prstGeom>
          <a:solidFill>
            <a:srgbClr val="F6EBD4"/>
          </a:solidFill>
          <a:ln w="1905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7069" y="1408881"/>
            <a:ext cx="76200" cy="2159124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4077" y="1569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4077" y="1876202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Purpose: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Latency prediction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4077" y="2188071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Strengths: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Robust to tabular noise (packetSize, interArrival)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4077" y="2726754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Result: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MAE = 3.12 ms, R² = 0.917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408881"/>
            <a:ext cx="2622724" cy="2159124"/>
          </a:xfrm>
          <a:prstGeom prst="roundRect">
            <a:avLst>
              <a:gd name="adj" fmla="val 4235"/>
            </a:avLst>
          </a:prstGeom>
          <a:solidFill>
            <a:srgbClr val="F6EBD4"/>
          </a:solidFill>
          <a:ln w="1905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1551" y="1408881"/>
            <a:ext cx="76200" cy="2159124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8560" y="1569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One-Class SVM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8560" y="1876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Purpose: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Security anomaly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8560" y="2414885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Strengths: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Learns "normalcy" boundaries without explicit attack labels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8560" y="3180383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Result: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F1-Score = 0.857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083" y="1408881"/>
            <a:ext cx="2622724" cy="2159124"/>
          </a:xfrm>
          <a:prstGeom prst="roundRect">
            <a:avLst>
              <a:gd name="adj" fmla="val 4235"/>
            </a:avLst>
          </a:prstGeom>
          <a:solidFill>
            <a:srgbClr val="F6EBD4"/>
          </a:solidFill>
          <a:ln w="1905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06033" y="1408881"/>
            <a:ext cx="76200" cy="2159124"/>
          </a:xfrm>
          <a:prstGeom prst="roundRect">
            <a:avLst>
              <a:gd name="adj" fmla="val 279070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3042" y="1569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BiLSTM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43042" y="1876202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Purpose: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Temporal dependencies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3042" y="2188071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Strengths: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Forecasts latency t+10 steps ahead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3042" y="2726754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Result: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MAE = 4.89 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119" y="3780606"/>
            <a:ext cx="3591744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m2cgen Transpiler: Critical Enabler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96119" y="425901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Allowed models to run in AnyLogic under 1 millisecond (avg 300 µs pipeline execution), vastly outperforming API-based inference.</a:t>
            </a:r>
            <a:endParaRPr lang="en-US" sz="11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A1D0764-1E94-1AF3-385F-D860974A84CC}"/>
              </a:ext>
            </a:extLst>
          </p:cNvPr>
          <p:cNvSpPr/>
          <p:nvPr/>
        </p:nvSpPr>
        <p:spPr>
          <a:xfrm>
            <a:off x="7711440" y="4739640"/>
            <a:ext cx="1432560" cy="38862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4761"/>
            <a:ext cx="41988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Conclusion: Key Findings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71265"/>
            <a:ext cx="2622724" cy="2527474"/>
          </a:xfrm>
          <a:prstGeom prst="roundRect">
            <a:avLst>
              <a:gd name="adj" fmla="val 8414"/>
            </a:avLst>
          </a:prstGeom>
          <a:solidFill>
            <a:srgbClr val="626C3B"/>
          </a:solidFill>
          <a:ln w="4763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2640" y="181778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93469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384822"/>
            <a:ext cx="23282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Multi-Paradigm Integration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691333"/>
            <a:ext cx="2329681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Successfully integrated 4 distinct AI paradigms: Supervised Learning, Unsupervised Learning, Reinforcement Learning, and Federated Learning natively inside AnyLogic simulation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671265"/>
            <a:ext cx="2622724" cy="2527474"/>
          </a:xfrm>
          <a:prstGeom prst="roundRect">
            <a:avLst>
              <a:gd name="adj" fmla="val 8414"/>
            </a:avLst>
          </a:prstGeom>
          <a:solidFill>
            <a:srgbClr val="626C3B"/>
          </a:solidFill>
          <a:ln w="4763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07122" y="181778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93469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23848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Negligible Overhead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691333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Embedded in-process AI inference adds minimal latency overhead to discrete-event simulations (avg 300 µs pipeline execution)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671265"/>
            <a:ext cx="2622724" cy="2527474"/>
          </a:xfrm>
          <a:prstGeom prst="roundRect">
            <a:avLst>
              <a:gd name="adj" fmla="val 8414"/>
            </a:avLst>
          </a:prstGeom>
          <a:solidFill>
            <a:srgbClr val="626C3B"/>
          </a:solidFill>
          <a:ln w="4763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171605" y="181778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1934691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23848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Autonomous Control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691333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RL agent autonomously throttles/accelerates traffic based on live predictions, enabling proactive congestion management</a:t>
            </a:r>
            <a:endParaRPr lang="en-US" sz="11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7DC1B4-9922-5C5E-33D8-2BD829D2F97C}"/>
              </a:ext>
            </a:extLst>
          </p:cNvPr>
          <p:cNvSpPr/>
          <p:nvPr/>
        </p:nvSpPr>
        <p:spPr>
          <a:xfrm>
            <a:off x="7711440" y="4739640"/>
            <a:ext cx="1432560" cy="38862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1871" y="380702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Future Work &amp; Publication Potential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41871" y="1450851"/>
            <a:ext cx="1893912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Current Limitations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41871" y="1800002"/>
            <a:ext cx="2261592" cy="160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Tabular Q-learning doesn't scale well to continuous/massive state spaces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Relying on dataset-derived distributions rather than live broker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Federated learning prototype requires validation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016300" y="1450851"/>
            <a:ext cx="1955825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Future Improvements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016300" y="1800002"/>
            <a:ext cx="2261592" cy="122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Replace tabular Q-Learning with Deep RL (DQN)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Integrate live MQTT broker for real-world validation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Expand federated learning implementation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29451" y="3571949"/>
            <a:ext cx="4831259" cy="1190848"/>
          </a:xfrm>
          <a:prstGeom prst="roundRect">
            <a:avLst>
              <a:gd name="adj" fmla="val 1590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57" y="3725540"/>
            <a:ext cx="197272" cy="1577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9135" y="3715941"/>
            <a:ext cx="19925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Publication Potential: High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9135" y="4025652"/>
            <a:ext cx="425536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Strong candidate for IEEE Access or IoT Journal submission. Research group highly interested in continuing work during Summer Semester to finalize Deep RL integration and prepare manuscript for publication.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B6C87D-6570-256E-45E5-98FB61464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923" y="3521385"/>
            <a:ext cx="3997077" cy="15813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B0A5C6-77B8-4EEA-3F33-19BC8F5D5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908" y="24536"/>
            <a:ext cx="3933092" cy="3413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703</Words>
  <Application>Microsoft Office PowerPoint</Application>
  <PresentationFormat>On-screen Show (16:9)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Brygada 1918 Semi Bold</vt:lpstr>
      <vt:lpstr>Arial</vt:lpstr>
      <vt:lpstr>Brygada 1918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ZAIN UL ABDEEN</cp:lastModifiedBy>
  <cp:revision>4</cp:revision>
  <dcterms:created xsi:type="dcterms:W3CDTF">2026-05-10T06:56:38Z</dcterms:created>
  <dcterms:modified xsi:type="dcterms:W3CDTF">2026-05-10T23:12:19Z</dcterms:modified>
</cp:coreProperties>
</file>